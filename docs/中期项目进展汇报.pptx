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62" r:id="rId8"/>
    <p:sldId id="257" r:id="rId9"/>
    <p:sldId id="259" r:id="rId10"/>
    <p:sldId id="258" r:id="rId11"/>
    <p:sldId id="261" r:id="rId12"/>
    <p:sldId id="260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747775"/>
          </p15:clr>
        </p15:guide>
        <p15:guide id="2" pos="283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6"/>
        <p:guide pos="283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你的名字]。今天非常荣幸能在这里向大家汇报我们项目的最新进展。本次汇报将主要围绕项目的当前状态、团队成员的工作总结以及下一步的计划展开。希望能让大家对项目有一个全面清晰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的当前进展。按照我们的开发计划，项目已经顺利完成了前十个周的任务，目前正处于第十周的安全审查阶段。从团队组建、架构设计，到前后端开发、AI集成，再到测试和CI/CD配置，所有核心环节都已按计划完成。可以说，项目的主体框架和核心功能已经搭建完毕，为后续的部署和交付打下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的当前进展。按照我们的开发计划，项目已经顺利完成了前十个周的任务，目前正处于第十周的安全审查阶段。从团队组建、架构设计，到前后端开发、AI集成，再到测试和CI/CD配置，所有核心环节都已按计划完成。可以说，项目的主体框架和核心功能已经搭建完毕，为后续的部署和交付打下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是我们的下一步计划。项目将进入收尾和交付阶段。第十一周，我们将进行项目部署；第十二周，完成云服务的配置；第十三周，完善运行监控和日志系统；最后在第十四周，完成项目的最终交付和汇报。我们将全力以赴，确保项目高质量地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团队成员的工作总结。在前端方面，团队成员主要负责了页面开发、交互逻辑编写以及与后端的接口联调。目前前端页面已经基本完成，并且完成了依赖安全扫描。在后端方面，团队成员搭建了项目，设计了数据库，开发了核心接口并接入了AI功能。目前后端接口稳定，能够为前端提供有力的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团队成员的工作总结。在前端方面，团队成员主要负责了页面开发、交互逻辑编写以及与后端的接口联调。目前前端页面已经基本完成，并且完成了依赖安全扫描。在后端方面，团队成员搭建了项目，设计了数据库，开发了核心接口并接入了AI功能。目前后端接口稳定，能够为前端提供有力的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我的汇报到此结束，感谢大家的聆听。如果大家有任何问题，欢迎现在提出，我很乐意解答。谢谢！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1" Type="http://schemas.openxmlformats.org/officeDocument/2006/relationships/notesSlide" Target="../notesSlides/notesSlide3.xml"/><Relationship Id="rId50" Type="http://schemas.openxmlformats.org/officeDocument/2006/relationships/slideLayout" Target="../slideLayouts/slideLayout12.xml"/><Relationship Id="rId5" Type="http://schemas.openxmlformats.org/officeDocument/2006/relationships/tags" Target="../tags/tag3.xml"/><Relationship Id="rId49" Type="http://schemas.openxmlformats.org/officeDocument/2006/relationships/image" Target="../media/image2.png"/><Relationship Id="rId48" Type="http://schemas.openxmlformats.org/officeDocument/2006/relationships/tags" Target="../tags/tag36.xml"/><Relationship Id="rId47" Type="http://schemas.openxmlformats.org/officeDocument/2006/relationships/tags" Target="../tags/tag35.xml"/><Relationship Id="rId46" Type="http://schemas.openxmlformats.org/officeDocument/2006/relationships/tags" Target="../tags/tag34.xml"/><Relationship Id="rId45" Type="http://schemas.openxmlformats.org/officeDocument/2006/relationships/tags" Target="../tags/tag33.xml"/><Relationship Id="rId44" Type="http://schemas.openxmlformats.org/officeDocument/2006/relationships/image" Target="../media/image14.svg"/><Relationship Id="rId43" Type="http://schemas.openxmlformats.org/officeDocument/2006/relationships/image" Target="../media/image13.png"/><Relationship Id="rId42" Type="http://schemas.openxmlformats.org/officeDocument/2006/relationships/tags" Target="../tags/tag32.xml"/><Relationship Id="rId41" Type="http://schemas.openxmlformats.org/officeDocument/2006/relationships/tags" Target="../tags/tag31.xml"/><Relationship Id="rId40" Type="http://schemas.openxmlformats.org/officeDocument/2006/relationships/tags" Target="../tags/tag30.xml"/><Relationship Id="rId4" Type="http://schemas.openxmlformats.org/officeDocument/2006/relationships/image" Target="../media/image4.svg"/><Relationship Id="rId39" Type="http://schemas.openxmlformats.org/officeDocument/2006/relationships/tags" Target="../tags/tag29.xml"/><Relationship Id="rId38" Type="http://schemas.openxmlformats.org/officeDocument/2006/relationships/tags" Target="../tags/tag28.xml"/><Relationship Id="rId37" Type="http://schemas.openxmlformats.org/officeDocument/2006/relationships/tags" Target="../tags/tag27.xml"/><Relationship Id="rId36" Type="http://schemas.openxmlformats.org/officeDocument/2006/relationships/image" Target="../media/image12.svg"/><Relationship Id="rId35" Type="http://schemas.openxmlformats.org/officeDocument/2006/relationships/image" Target="../media/image11.png"/><Relationship Id="rId34" Type="http://schemas.openxmlformats.org/officeDocument/2006/relationships/tags" Target="../tags/tag26.xml"/><Relationship Id="rId33" Type="http://schemas.openxmlformats.org/officeDocument/2006/relationships/tags" Target="../tags/tag25.xml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image" Target="../media/image3.png"/><Relationship Id="rId29" Type="http://schemas.openxmlformats.org/officeDocument/2006/relationships/tags" Target="../tags/tag21.xml"/><Relationship Id="rId28" Type="http://schemas.openxmlformats.org/officeDocument/2006/relationships/image" Target="../media/image10.svg"/><Relationship Id="rId27" Type="http://schemas.openxmlformats.org/officeDocument/2006/relationships/image" Target="../media/image9.png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image" Target="../media/image8.svg"/><Relationship Id="rId2" Type="http://schemas.openxmlformats.org/officeDocument/2006/relationships/tags" Target="../tags/tag2.xml"/><Relationship Id="rId19" Type="http://schemas.openxmlformats.org/officeDocument/2006/relationships/image" Target="../media/image7.png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image" Target="../media/image26.svg"/><Relationship Id="rId12" Type="http://schemas.openxmlformats.org/officeDocument/2006/relationships/image" Target="../media/image25.png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项目中期汇报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8230" y="3173095"/>
            <a:ext cx="10160000" cy="1740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FitMate</a:t>
            </a:r>
            <a:endParaRPr lang="en-US"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汇报人：赵一诺、贾静怡 | 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00 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项目介绍：</a:t>
            </a:r>
            <a:r>
              <a:rPr lang="en-US" altLang="zh-CN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</a:t>
            </a:r>
            <a:r>
              <a:rPr lang="en-US" altLang="zh-CN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itMate</a:t>
            </a:r>
            <a:endParaRPr lang="en-US" altLang="zh-CN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839470" y="1397000"/>
            <a:ext cx="10325735" cy="498221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1257300" y="2128520"/>
            <a:ext cx="3326765" cy="3613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>
              <a:lnSpc>
                <a:spcPct val="117000"/>
              </a:lnSpc>
              <a:defRPr/>
            </a:pP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FitMate 是一个面向用户的</a:t>
            </a:r>
            <a:r>
              <a:rPr lang="en-US" b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智能运动辅助平台</a:t>
            </a: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，主要通过前端页面、后端接口和 AI 能力，为用户提供</a:t>
            </a:r>
            <a:r>
              <a:rPr lang="en-US" b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运动计划生成、AI 教练问答、运动知识库、数据分析和个人健康管理</a:t>
            </a: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等功能。</a:t>
            </a:r>
            <a:endParaRPr lang="en-US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endParaRPr lang="en-US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项目采用 </a:t>
            </a:r>
            <a:r>
              <a:rPr lang="en-US" b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前后端分离架构</a:t>
            </a: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endParaRPr lang="en-US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buFont typeface="+mj-ea"/>
              <a:buAutoNum type="circleNumDbPlain"/>
              <a:defRPr/>
            </a:pP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前端负责页面展示、用户交互和 API 调用</a:t>
            </a:r>
            <a:r>
              <a:rPr lang="zh-CN" alt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zh-CN" altLang="en-US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buFont typeface="+mj-ea"/>
              <a:buAutoNum type="circleNumDbPlain"/>
              <a:defRPr/>
            </a:pP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后端负责用户认证、数据管理、核心接口和 AI 服务接入。</a:t>
            </a:r>
            <a:endParaRPr lang="en-US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buFont typeface="+mj-ea"/>
              <a:buAutoNum type="circleNumDbPlain"/>
              <a:defRPr/>
            </a:pP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 AI 集成，系统能够根据用户需求生成个性化运动建议，提升用户的健身规划效率和使用体验。</a:t>
            </a:r>
            <a:endParaRPr lang="en-US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endParaRPr lang="en-US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5" name="图片 44" descr="ee33cbefb951d3dc66679455a9dd867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6330" y="2187575"/>
            <a:ext cx="5998210" cy="3064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当前进展：已完成至 Week 10 安全审查阶段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587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根据原定开发计划，目前项目已完成 Week 0 至 Week 10 的全部核心任务，涵盖架构设计、全栈开发及质量保障，整体进度与规划高度一致。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55650" y="2667000"/>
            <a:ext cx="1587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650" y="28194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200150" y="2794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0-4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882650" y="3175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团队组建、架构与API设计、UI/UX定稿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2650" y="3683000"/>
            <a:ext cx="1333500" cy="279400"/>
          </a:xfrm>
          <a:prstGeom prst="roundRect">
            <a:avLst>
              <a:gd name="adj" fmla="val 4545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882650" y="3695700"/>
            <a:ext cx="1333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已完成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2495550" y="2667000"/>
            <a:ext cx="1587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22550" y="28194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2940050" y="2794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5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2622550" y="3175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前端功能开发与组件实现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2622550" y="3683000"/>
            <a:ext cx="1333500" cy="279400"/>
          </a:xfrm>
          <a:prstGeom prst="roundRect">
            <a:avLst>
              <a:gd name="adj" fmla="val 4545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2622550" y="3695700"/>
            <a:ext cx="1333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已完成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4248150" y="2667000"/>
            <a:ext cx="1587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75150" y="28194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4692650" y="2794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6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4375150" y="3175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后端逻辑与接口开发完成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4375150" y="3683000"/>
            <a:ext cx="1333500" cy="279400"/>
          </a:xfrm>
          <a:prstGeom prst="roundRect">
            <a:avLst>
              <a:gd name="adj" fmla="val 4545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4375150" y="3695700"/>
            <a:ext cx="1333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已完成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755650" y="4318000"/>
            <a:ext cx="1587500" cy="195834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82650" y="44704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1200150" y="4445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7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882650" y="4749800"/>
            <a:ext cx="1333500" cy="1188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buFont typeface="+mj-ea"/>
              <a:buNone/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 AI 模型集成与联调</a:t>
            </a:r>
            <a:r>
              <a:rPr lang="zh-CN" alt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zh-CN" alt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0000"/>
              </a:lnSpc>
              <a:buFont typeface="+mj-ea"/>
              <a:buAutoNum type="circleNumDbPlain"/>
              <a:defRPr/>
            </a:pPr>
            <a:r>
              <a:rPr lang="en-US" altLang="zh-CN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教练</a:t>
            </a:r>
            <a:r>
              <a:rPr lang="zh-CN" alt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</a:t>
            </a:r>
            <a:endParaRPr lang="zh-CN" alt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0000"/>
              </a:lnSpc>
              <a:buFont typeface="+mj-ea"/>
              <a:buAutoNum type="circleNumDbPlain"/>
              <a:defRPr/>
            </a:pPr>
            <a:r>
              <a:rPr lang="en-US" altLang="zh-CN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</a:t>
            </a:r>
            <a:r>
              <a:rPr lang="zh-CN" alt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</a:t>
            </a:r>
            <a:endParaRPr lang="zh-CN" alt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0000"/>
              </a:lnSpc>
              <a:buFont typeface="+mj-ea"/>
              <a:buAutoNum type="circleNumDbPlain"/>
              <a:defRPr/>
            </a:pPr>
            <a:r>
              <a:rPr lang="en-US" altLang="zh-CN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</a:t>
            </a:r>
            <a:r>
              <a:rPr lang="zh-CN" alt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zh-CN" alt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31"/>
            </p:custDataLst>
          </p:nvPr>
        </p:nvSpPr>
        <p:spPr>
          <a:xfrm>
            <a:off x="882650" y="5882640"/>
            <a:ext cx="1333500" cy="279400"/>
          </a:xfrm>
          <a:prstGeom prst="roundRect">
            <a:avLst>
              <a:gd name="adj" fmla="val 4545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32"/>
            </p:custDataLst>
          </p:nvPr>
        </p:nvSpPr>
        <p:spPr>
          <a:xfrm>
            <a:off x="882650" y="5882640"/>
            <a:ext cx="1333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已完成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3"/>
            </p:custDataLst>
          </p:nvPr>
        </p:nvSpPr>
        <p:spPr>
          <a:xfrm>
            <a:off x="2495550" y="4318000"/>
            <a:ext cx="1587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622550" y="44704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>
            <p:custDataLst>
              <p:tags r:id="rId37"/>
            </p:custDataLst>
          </p:nvPr>
        </p:nvSpPr>
        <p:spPr>
          <a:xfrm>
            <a:off x="2940050" y="4445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8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38"/>
            </p:custDataLst>
          </p:nvPr>
        </p:nvSpPr>
        <p:spPr>
          <a:xfrm>
            <a:off x="2622550" y="4826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全链路功能与性能测试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39"/>
            </p:custDataLst>
          </p:nvPr>
        </p:nvSpPr>
        <p:spPr>
          <a:xfrm>
            <a:off x="2622550" y="5334000"/>
            <a:ext cx="1333500" cy="279400"/>
          </a:xfrm>
          <a:prstGeom prst="roundRect">
            <a:avLst>
              <a:gd name="adj" fmla="val 4545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>
            <p:custDataLst>
              <p:tags r:id="rId40"/>
            </p:custDataLst>
          </p:nvPr>
        </p:nvSpPr>
        <p:spPr>
          <a:xfrm>
            <a:off x="2622550" y="5346700"/>
            <a:ext cx="1333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已完成</a:t>
            </a:r>
            <a:endParaRPr lang="en-US" sz="1100"/>
          </a:p>
        </p:txBody>
      </p:sp>
      <p:sp>
        <p:nvSpPr>
          <p:cNvPr id="35" name="AutoShape 35"/>
          <p:cNvSpPr/>
          <p:nvPr>
            <p:custDataLst>
              <p:tags r:id="rId41"/>
            </p:custDataLst>
          </p:nvPr>
        </p:nvSpPr>
        <p:spPr>
          <a:xfrm>
            <a:off x="4248150" y="4318000"/>
            <a:ext cx="1587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375150" y="44704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>
            <p:custDataLst>
              <p:tags r:id="rId45"/>
            </p:custDataLst>
          </p:nvPr>
        </p:nvSpPr>
        <p:spPr>
          <a:xfrm>
            <a:off x="4692650" y="4445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9-10</a:t>
            </a:r>
            <a:endParaRPr lang="en-US" sz="1100"/>
          </a:p>
        </p:txBody>
      </p:sp>
      <p:sp>
        <p:nvSpPr>
          <p:cNvPr id="38" name="AutoShape 38"/>
          <p:cNvSpPr/>
          <p:nvPr>
            <p:custDataLst>
              <p:tags r:id="rId46"/>
            </p:custDataLst>
          </p:nvPr>
        </p:nvSpPr>
        <p:spPr>
          <a:xfrm>
            <a:off x="4375150" y="4826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CI/CD 流水线部署与系统安全审查</a:t>
            </a:r>
            <a:endParaRPr lang="en-US" sz="1100"/>
          </a:p>
        </p:txBody>
      </p:sp>
      <p:sp>
        <p:nvSpPr>
          <p:cNvPr id="39" name="AutoShape 39"/>
          <p:cNvSpPr/>
          <p:nvPr>
            <p:custDataLst>
              <p:tags r:id="rId47"/>
            </p:custDataLst>
          </p:nvPr>
        </p:nvSpPr>
        <p:spPr>
          <a:xfrm>
            <a:off x="4375150" y="5334000"/>
            <a:ext cx="1333500" cy="279400"/>
          </a:xfrm>
          <a:prstGeom prst="roundRect">
            <a:avLst>
              <a:gd name="adj" fmla="val 4545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>
            <p:custDataLst>
              <p:tags r:id="rId48"/>
            </p:custDataLst>
          </p:nvPr>
        </p:nvSpPr>
        <p:spPr>
          <a:xfrm>
            <a:off x="4375150" y="5346700"/>
            <a:ext cx="1333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已完成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223000" y="1397000"/>
            <a:ext cx="5593715" cy="4318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6223000" y="46990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主体框架搭建完毕，核心功能开发与安全基线建设均已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达标，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项目已做好进入部署与交付阶段的准备。</a:t>
            </a:r>
            <a:endParaRPr lang="en-US" sz="1100"/>
          </a:p>
        </p:txBody>
      </p:sp>
      <p:pic>
        <p:nvPicPr>
          <p:cNvPr id="45" name="图片 44" descr="ee33cbefb951d3dc66679455a9dd867f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463665" y="1810385"/>
            <a:ext cx="5207635" cy="2660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下一步计划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目前项目已经完成到 Week 10，接下来将进入收尾和交付阶段，我们将按计划推进以下工作：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2540000" cy="2794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13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11 · 项目部署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完成生产环境的部署与相关配置。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进行初步功能与性能的部署验证。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159000"/>
            <a:ext cx="2540000" cy="2794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215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6500" y="2413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910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12 · 云服务配置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46500" y="3175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配置云服务器与数据库等核心资源。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优化网络架构与系统安全防护设置。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2159000"/>
            <a:ext cx="2540000" cy="2794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350000" y="215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2413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13 · 监控与日志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3175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搭建可视化监控系统，实时追踪状态。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完善全链路日志记录，便于排查问题。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17000" y="2159000"/>
            <a:ext cx="2540000" cy="2794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17000" y="215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7500" y="2413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6520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14 · 交付与汇报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07500" y="3175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整理并输出完整的项目交付文档。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组织最终成果展示与项目汇报会议。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270500"/>
            <a:ext cx="10795000" cy="1206500"/>
          </a:xfrm>
          <a:prstGeom prst="roundRect">
            <a:avLst>
              <a:gd name="adj" fmla="val 12631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54610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阶段总结：</a:t>
            </a: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下一阶段我们将重点完成项目部署、云服务配置、运行监控与最终交付工作，确保每一个环节落实到位，进一步提升系统的稳定性、完整性和最终展示效果，保障项目高质量顺利上线。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成员工作总结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5207000" cy="5080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5207000" cy="762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478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r>
              <a:rPr lang="zh-CN" alt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赵一诺</a:t>
            </a:r>
            <a:endParaRPr lang="zh-CN" altLang="en-US" sz="2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413000"/>
            <a:ext cx="4699000" cy="4141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</a:t>
            </a:r>
            <a:r>
              <a:rPr lang="zh-CN" alt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工作成果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/>
          </a:p>
          <a:p>
            <a:pPr marL="228600" indent="-228600" algn="l">
              <a:lnSpc>
                <a:spcPct val="108000"/>
              </a:lnSpc>
              <a:buFont typeface="+mj-ea"/>
              <a:buAutoNum type="circleNumDbPlain"/>
            </a:pPr>
            <a:r>
              <a:rPr lang="en-US" altLang="zh-CN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 / UX </a:t>
            </a:r>
            <a:r>
              <a:rPr lang="zh-CN" alt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与架构</a:t>
            </a:r>
            <a:endParaRPr lang="zh-CN" altLang="en-US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Figma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原型设计。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与后端协作确定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响应格式。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SzTx/>
              <a:buFont typeface="+mj-ea"/>
              <a:buAutoNum type="circleNumDbPlain" startAt="2"/>
            </a:pPr>
            <a:r>
              <a:rPr lang="en-US" altLang="zh-CN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前端开发</a:t>
            </a:r>
            <a:endParaRPr lang="en-US" altLang="zh-CN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完成登录 / 注册、首页、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教练、计划、知识库、数据分析、个人中心等页面。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请求，实现计划生成、教练对话、数据分析等功能。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Button、Input、Card、Dialog、Tabs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等通用组件。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Font typeface="+mj-ea"/>
              <a:buAutoNum type="circleNumDbPlain" startAt="3"/>
            </a:pPr>
            <a:r>
              <a:rPr lang="zh-CN" alt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测试与安全</a:t>
            </a:r>
            <a:endParaRPr lang="zh-CN" altLang="en-US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Vitest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完成前端测试，23 个测试文件，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112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测试，核心覆盖率约 7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frontend CI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配置，包括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lint、test:coverage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Codecov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完成前端依赖与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XSS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安全检查，执行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npm audit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并维护环境变量说明。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406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223000" y="1397000"/>
            <a:ext cx="5207000" cy="5080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223000" y="1397000"/>
            <a:ext cx="5207000" cy="762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177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69088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</a:t>
            </a:r>
            <a:r>
              <a:rPr lang="zh-CN" alt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贾静怡</a:t>
            </a:r>
            <a:endParaRPr lang="zh-CN" altLang="en-US" sz="2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6421120" y="1696720"/>
            <a:ext cx="4699000" cy="17068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▍主要负责：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后端接口开发、数据库与部署配置、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集成、测试与安全审查相关工作。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6421120" y="2464435"/>
            <a:ext cx="4699000" cy="41935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▍工作成果：</a:t>
            </a:r>
            <a:endParaRPr lang="en-US" sz="1100"/>
          </a:p>
          <a:p>
            <a:pPr marL="228600" indent="-228600" algn="l">
              <a:lnSpc>
                <a:spcPct val="108000"/>
              </a:lnSpc>
              <a:buFont typeface="+mj-ea"/>
              <a:buAutoNum type="circleNumDbPlain"/>
            </a:pPr>
            <a:r>
              <a:rPr lang="zh-CN" alt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架构与后端开发</a:t>
            </a:r>
            <a:endParaRPr lang="zh-CN" altLang="en-US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参与系统架构与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设计，约定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REST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风格接口和统一响应格式。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完成用户认证、个人中心、统计、成就等核心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API。</a:t>
            </a:r>
            <a:endParaRPr lang="en-US" altLang="zh-CN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模型、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ORM、Dockerfile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docker-compose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Font typeface="+mj-ea"/>
              <a:buAutoNum type="circleNumDbPlain" startAt="2"/>
            </a:pPr>
            <a:r>
              <a:rPr lang="en-US" altLang="zh-CN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</a:t>
            </a:r>
            <a:endParaRPr lang="zh-CN" altLang="en-US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对接通义千问，实现智能计划、教练问答、饮食建议、进度分析等功能。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与结构化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输出，处理异常和错误返回。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Font typeface="+mj-ea"/>
              <a:buAutoNum type="circleNumDbPlain" startAt="3"/>
            </a:pPr>
            <a:r>
              <a:rPr lang="zh-CN" alt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测试与安全</a:t>
            </a:r>
            <a:endParaRPr lang="zh-CN" altLang="en-US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Pytest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完成后端测试，79 条用例，整体覆盖率约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78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backend CI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配置，包括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Ruff、pytest、Codecov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 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coverage.xml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Wingdings" panose="05000000000000000000" charset="0"/>
              <a:buChar char="l"/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完成后端安全审查，修复默认密钥、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安全头、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env.example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等问题。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4"/>
          <p:cNvSpPr/>
          <p:nvPr>
            <p:custDataLst>
              <p:tags r:id="rId17"/>
            </p:custDataLst>
          </p:nvPr>
        </p:nvSpPr>
        <p:spPr>
          <a:xfrm>
            <a:off x="1016000" y="1908810"/>
            <a:ext cx="4699000" cy="128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▍主要负责：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主要负责项目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原型设计、前端页面开发、接口调用、测试与安全审查相关工作。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7510" y="596900"/>
            <a:ext cx="6941185" cy="354520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2558415"/>
            <a:ext cx="6431280" cy="330708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85" y="4219575"/>
            <a:ext cx="4731385" cy="2436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4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5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6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7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8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9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0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1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2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3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4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5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6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7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8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19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0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1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2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3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4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5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6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7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8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29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0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1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2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3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4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5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6.xml><?xml version="1.0" encoding="utf-8"?>
<p:tagLst xmlns:p="http://schemas.openxmlformats.org/presentationml/2006/main">
  <p:tag name="KSO_WM_DIAGRAM_VIRTUALLY_FRAME" val="{&quot;height&quot;:298.45,&quot;left&quot;:59.5,&quot;top&quot;:210,&quot;width&quot;:400}"/>
</p:tagLst>
</file>

<file path=ppt/tags/tag37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38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39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0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1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2.xml><?xml version="1.0" encoding="utf-8"?>
<p:tagLst xmlns:p="http://schemas.openxmlformats.org/presentationml/2006/main">
  <p:tag name="KSO_WM_DIAGRAM_VIRTUALLY_FRAME" val="{&quot;height&quot;:407.25,&quot;left&quot;:60,&quot;top&quot;:110,&quot;width&quot;:840}"/>
</p:tagLst>
</file>

<file path=ppt/tags/tag43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4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5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6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7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8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ags/tag49.xml><?xml version="1.0" encoding="utf-8"?>
<p:tagLst xmlns:p="http://schemas.openxmlformats.org/presentationml/2006/main">
  <p:tag name="KSO_WM_DIAGRAM_VIRTUALLY_FRAME" val="{&quot;height&quot;:414.25,&quot;left&quot;:60,&quot;top&quot;:11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1655</Words>
  <Application>WPS 演示</Application>
  <PresentationFormat/>
  <Paragraphs>127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Wingdings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废话模拟器</cp:lastModifiedBy>
  <cp:revision>5</cp:revision>
  <dcterms:created xsi:type="dcterms:W3CDTF">2026-05-12T07:46:00Z</dcterms:created>
  <dcterms:modified xsi:type="dcterms:W3CDTF">2026-05-12T12:08:29Z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49907590D7FC4D529AF2FF222C352D6C_12</vt:lpwstr>
  </property>
</Properties>
</file>